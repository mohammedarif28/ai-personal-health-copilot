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10/24/2026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10/24/2026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10/24/2026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3.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10/24/2026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8999-0C51-C0C5-85C3-B5C337CFC43B}"/>
              </a:ext>
            </a:extLst>
          </p:cNvPr>
          <p:cNvSpPr>
            <a:spLocks noGrp="1"/>
          </p:cNvSpPr>
          <p:nvPr>
            <p:ph type="ctrTitle"/>
          </p:nvPr>
        </p:nvSpPr>
        <p:spPr>
          <a:xfrm>
            <a:off x="1632155" y="3165986"/>
            <a:ext cx="6882580" cy="2713704"/>
          </a:xfrm>
        </p:spPr>
        <p:txBody>
          <a:bodyPr>
            <a:normAutofit/>
          </a:bodyPr>
          <a:lstStyle/>
          <a:p>
            <a:pPr algn="just"/>
            <a:r>
              <a:rPr lang="en-IN"/>
              <a:t>AI-POWERED PERSONAL HEALTH COPILOT </a:t>
            </a:r>
          </a:p>
        </p:txBody>
      </p:sp>
      <p:sp>
        <p:nvSpPr>
          <p:cNvPr id="3" name="Subtitle 2">
            <a:extLst>
              <a:ext uri="{FF2B5EF4-FFF2-40B4-BE49-F238E27FC236}">
                <a16:creationId xmlns:a16="http://schemas.microsoft.com/office/drawing/2014/main" id="{8E52D6BC-CAFF-1D08-4E3E-BE91838A42A0}"/>
              </a:ext>
            </a:extLst>
          </p:cNvPr>
          <p:cNvSpPr>
            <a:spLocks noGrp="1"/>
          </p:cNvSpPr>
          <p:nvPr>
            <p:ph type="subTitle" idx="1"/>
          </p:nvPr>
        </p:nvSpPr>
        <p:spPr>
          <a:xfrm>
            <a:off x="3254055" y="5879691"/>
            <a:ext cx="5260680" cy="609600"/>
          </a:xfrm>
        </p:spPr>
        <p:txBody>
          <a:bodyPr/>
          <a:lstStyle/>
          <a:p>
            <a:r>
              <a:rPr lang="en-IN"/>
              <a:t>TEAM NAME:SPARKVISION</a:t>
            </a:r>
          </a:p>
        </p:txBody>
      </p:sp>
    </p:spTree>
    <p:extLst>
      <p:ext uri="{BB962C8B-B14F-4D97-AF65-F5344CB8AC3E}">
        <p14:creationId xmlns:p14="http://schemas.microsoft.com/office/powerpoint/2010/main" val="3947121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F3BEB-5D75-C5B3-3ED2-6030CDC8EF75}"/>
              </a:ext>
            </a:extLst>
          </p:cNvPr>
          <p:cNvSpPr>
            <a:spLocks noGrp="1"/>
          </p:cNvSpPr>
          <p:nvPr>
            <p:ph type="title"/>
          </p:nvPr>
        </p:nvSpPr>
        <p:spPr/>
        <p:txBody>
          <a:bodyPr>
            <a:normAutofit/>
          </a:bodyPr>
          <a:lstStyle/>
          <a:p>
            <a:pPr algn="just"/>
            <a:r>
              <a:rPr lang="en-IN" sz="4000"/>
              <a:t>PROBLEM STATEMENT</a:t>
            </a:r>
          </a:p>
        </p:txBody>
      </p:sp>
      <p:sp>
        <p:nvSpPr>
          <p:cNvPr id="3" name="Content Placeholder 2">
            <a:extLst>
              <a:ext uri="{FF2B5EF4-FFF2-40B4-BE49-F238E27FC236}">
                <a16:creationId xmlns:a16="http://schemas.microsoft.com/office/drawing/2014/main" id="{D33B429A-EC8B-DD84-AC60-D5015915D862}"/>
              </a:ext>
            </a:extLst>
          </p:cNvPr>
          <p:cNvSpPr>
            <a:spLocks noGrp="1"/>
          </p:cNvSpPr>
          <p:nvPr>
            <p:ph idx="1"/>
          </p:nvPr>
        </p:nvSpPr>
        <p:spPr>
          <a:xfrm>
            <a:off x="2153266" y="1622323"/>
            <a:ext cx="8416874" cy="4427621"/>
          </a:xfrm>
        </p:spPr>
        <p:txBody>
          <a:bodyPr/>
          <a:lstStyle/>
          <a:p>
            <a:r>
              <a:rPr lang="en-IN"/>
              <a:t>Healthcare information is often scattered across medical reports, prescriptions, diagnostic results, and appointment records. Patients may struggle to understand medical terminology, remember medicine schedules, track appointments, and access important health information when needed.</a:t>
            </a:r>
          </a:p>
          <a:p>
            <a:r>
              <a:rPr lang="en-IN"/>
              <a:t>There is a need for a user-friendly AI-powered platform that helps individuals understand medical information, organize their health records, and manage healthcare activities in one place.</a:t>
            </a:r>
          </a:p>
          <a:p>
            <a:endParaRPr lang="en-IN"/>
          </a:p>
        </p:txBody>
      </p:sp>
    </p:spTree>
    <p:extLst>
      <p:ext uri="{BB962C8B-B14F-4D97-AF65-F5344CB8AC3E}">
        <p14:creationId xmlns:p14="http://schemas.microsoft.com/office/powerpoint/2010/main" val="3374325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77A51-DE5E-850F-8A54-5AB97DABFD5E}"/>
              </a:ext>
            </a:extLst>
          </p:cNvPr>
          <p:cNvSpPr>
            <a:spLocks noGrp="1"/>
          </p:cNvSpPr>
          <p:nvPr>
            <p:ph type="title"/>
          </p:nvPr>
        </p:nvSpPr>
        <p:spPr/>
        <p:txBody>
          <a:bodyPr>
            <a:normAutofit/>
          </a:bodyPr>
          <a:lstStyle/>
          <a:p>
            <a:pPr algn="l"/>
            <a:r>
              <a:rPr lang="en-IN" sz="4000"/>
              <a:t>PROPOSED SOLUTION</a:t>
            </a:r>
          </a:p>
        </p:txBody>
      </p:sp>
      <p:sp>
        <p:nvSpPr>
          <p:cNvPr id="3" name="Content Placeholder 2">
            <a:extLst>
              <a:ext uri="{FF2B5EF4-FFF2-40B4-BE49-F238E27FC236}">
                <a16:creationId xmlns:a16="http://schemas.microsoft.com/office/drawing/2014/main" id="{8665FCED-2C9D-310B-BC5A-00A60AFD13F1}"/>
              </a:ext>
            </a:extLst>
          </p:cNvPr>
          <p:cNvSpPr>
            <a:spLocks noGrp="1"/>
          </p:cNvSpPr>
          <p:nvPr>
            <p:ph idx="1"/>
          </p:nvPr>
        </p:nvSpPr>
        <p:spPr>
          <a:xfrm>
            <a:off x="2202426" y="1799303"/>
            <a:ext cx="8367713" cy="4250641"/>
          </a:xfrm>
        </p:spPr>
        <p:txBody>
          <a:bodyPr>
            <a:normAutofit fontScale="77500" lnSpcReduction="20000"/>
          </a:bodyPr>
          <a:lstStyle/>
          <a:p>
            <a:pPr marL="0" indent="0">
              <a:buNone/>
            </a:pPr>
            <a:r>
              <a:rPr lang="en-IN" err="1"/>
              <a:t>HealthMate</a:t>
            </a:r>
            <a:r>
              <a:rPr lang="en-IN"/>
              <a:t> AI is a personal health assistant designed to make healthcare information easier to understand and manage.</a:t>
            </a:r>
          </a:p>
          <a:p>
            <a:pPr marL="0" indent="0">
              <a:buNone/>
            </a:pPr>
            <a:r>
              <a:rPr lang="en-IN"/>
              <a:t>The repository describes these main capabilities: </a:t>
            </a:r>
          </a:p>
          <a:p>
            <a:r>
              <a:rPr lang="en-IN"/>
              <a:t>GitHub</a:t>
            </a:r>
          </a:p>
          <a:p>
            <a:pPr lvl="0"/>
            <a:r>
              <a:rPr lang="en-IN"/>
              <a:t>AI-powered medical report analysis.</a:t>
            </a:r>
          </a:p>
          <a:p>
            <a:pPr lvl="0"/>
            <a:r>
              <a:rPr lang="en-IN"/>
              <a:t>Answers to health-related questions.</a:t>
            </a:r>
          </a:p>
          <a:p>
            <a:pPr lvl="0"/>
            <a:r>
              <a:rPr lang="en-IN"/>
              <a:t>Medicine reminders.</a:t>
            </a:r>
          </a:p>
          <a:p>
            <a:pPr lvl="0"/>
            <a:r>
              <a:rPr lang="en-IN"/>
              <a:t>Appointment tracking.</a:t>
            </a:r>
          </a:p>
          <a:p>
            <a:pPr lvl="0"/>
            <a:r>
              <a:rPr lang="en-IN"/>
              <a:t>A convenient digital health assistant.</a:t>
            </a:r>
          </a:p>
          <a:p>
            <a:pPr marL="0" indent="0">
              <a:buNone/>
            </a:pPr>
            <a:r>
              <a:rPr lang="en-IN"/>
              <a:t>The goal is to bring these activities together in a simple, user-friendly experience.</a:t>
            </a:r>
          </a:p>
          <a:p>
            <a:endParaRPr lang="en-IN"/>
          </a:p>
        </p:txBody>
      </p:sp>
    </p:spTree>
    <p:extLst>
      <p:ext uri="{BB962C8B-B14F-4D97-AF65-F5344CB8AC3E}">
        <p14:creationId xmlns:p14="http://schemas.microsoft.com/office/powerpoint/2010/main" val="2543457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B1FC-993E-5725-35D0-7D596097F28F}"/>
              </a:ext>
            </a:extLst>
          </p:cNvPr>
          <p:cNvSpPr>
            <a:spLocks noGrp="1"/>
          </p:cNvSpPr>
          <p:nvPr>
            <p:ph type="title"/>
          </p:nvPr>
        </p:nvSpPr>
        <p:spPr/>
        <p:txBody>
          <a:bodyPr>
            <a:normAutofit/>
          </a:bodyPr>
          <a:lstStyle/>
          <a:p>
            <a:pPr algn="l"/>
            <a:r>
              <a:rPr lang="en-IN" sz="3600"/>
              <a:t>KEY FEATURES</a:t>
            </a:r>
          </a:p>
        </p:txBody>
      </p:sp>
      <p:sp>
        <p:nvSpPr>
          <p:cNvPr id="3" name="Content Placeholder 2">
            <a:extLst>
              <a:ext uri="{FF2B5EF4-FFF2-40B4-BE49-F238E27FC236}">
                <a16:creationId xmlns:a16="http://schemas.microsoft.com/office/drawing/2014/main" id="{41638516-7572-857E-2543-3998362CB9A1}"/>
              </a:ext>
            </a:extLst>
          </p:cNvPr>
          <p:cNvSpPr>
            <a:spLocks noGrp="1"/>
          </p:cNvSpPr>
          <p:nvPr>
            <p:ph idx="1"/>
          </p:nvPr>
        </p:nvSpPr>
        <p:spPr>
          <a:xfrm>
            <a:off x="2074606" y="1720644"/>
            <a:ext cx="8740878" cy="4847303"/>
          </a:xfrm>
        </p:spPr>
        <p:txBody>
          <a:bodyPr>
            <a:normAutofit fontScale="85000" lnSpcReduction="20000"/>
          </a:bodyPr>
          <a:lstStyle/>
          <a:p>
            <a:pPr marL="0" indent="0">
              <a:buNone/>
            </a:pPr>
            <a:r>
              <a:rPr lang="en-IN"/>
              <a:t>1. Medical Report Analysis</a:t>
            </a:r>
          </a:p>
          <a:p>
            <a:r>
              <a:rPr lang="en-IN"/>
              <a:t>Helps users understand information contained in medical reports using AI-generated explanations.</a:t>
            </a:r>
          </a:p>
          <a:p>
            <a:pPr marL="0" indent="0">
              <a:buNone/>
            </a:pPr>
            <a:r>
              <a:rPr lang="en-IN"/>
              <a:t>2. Health Query Assistant</a:t>
            </a:r>
          </a:p>
          <a:p>
            <a:r>
              <a:rPr lang="en-IN"/>
              <a:t>Allows users to ask health-related questions and receive AI-generated responses.</a:t>
            </a:r>
          </a:p>
          <a:p>
            <a:pPr marL="0" indent="0">
              <a:buNone/>
            </a:pPr>
            <a:r>
              <a:rPr lang="en-IN"/>
              <a:t>3. Medicine Reminders</a:t>
            </a:r>
          </a:p>
          <a:p>
            <a:r>
              <a:rPr lang="en-IN"/>
              <a:t>Helps users keep track of scheduled medicines and reminder times.</a:t>
            </a:r>
          </a:p>
          <a:p>
            <a:pPr marL="0" indent="0">
              <a:buNone/>
            </a:pPr>
            <a:r>
              <a:rPr lang="en-IN"/>
              <a:t>4. Appointment Tracking</a:t>
            </a:r>
          </a:p>
          <a:p>
            <a:r>
              <a:rPr lang="en-IN"/>
              <a:t>Helps users organize upcoming healthcare appointments.</a:t>
            </a:r>
          </a:p>
          <a:p>
            <a:pPr marL="0" indent="0">
              <a:buNone/>
            </a:pPr>
            <a:r>
              <a:rPr lang="en-IN"/>
              <a:t>These are capabilities described by the repository. Confirm each feature in the running application before claiming it is fully implemented.</a:t>
            </a:r>
          </a:p>
          <a:p>
            <a:endParaRPr lang="en-IN"/>
          </a:p>
        </p:txBody>
      </p:sp>
    </p:spTree>
    <p:extLst>
      <p:ext uri="{BB962C8B-B14F-4D97-AF65-F5344CB8AC3E}">
        <p14:creationId xmlns:p14="http://schemas.microsoft.com/office/powerpoint/2010/main" val="3178561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2D907CE-CC44-6546-6CFE-3EE722FEAD86}"/>
              </a:ext>
            </a:extLst>
          </p:cNvPr>
          <p:cNvGraphicFramePr>
            <a:graphicFrameLocks noGrp="1"/>
          </p:cNvGraphicFramePr>
          <p:nvPr>
            <p:extLst>
              <p:ext uri="{D42A27DB-BD31-4B8C-83A1-F6EECF244321}">
                <p14:modId xmlns:p14="http://schemas.microsoft.com/office/powerpoint/2010/main" val="1708726122"/>
              </p:ext>
            </p:extLst>
          </p:nvPr>
        </p:nvGraphicFramePr>
        <p:xfrm>
          <a:off x="2979174" y="1419282"/>
          <a:ext cx="5230761" cy="625823"/>
        </p:xfrm>
        <a:graphic>
          <a:graphicData uri="http://schemas.openxmlformats.org/drawingml/2006/table">
            <a:tbl>
              <a:tblPr/>
              <a:tblGrid>
                <a:gridCol w="5230761">
                  <a:extLst>
                    <a:ext uri="{9D8B030D-6E8A-4147-A177-3AD203B41FA5}">
                      <a16:colId xmlns:a16="http://schemas.microsoft.com/office/drawing/2014/main" val="3966829262"/>
                    </a:ext>
                  </a:extLst>
                </a:gridCol>
              </a:tblGrid>
              <a:tr h="625823">
                <a:tc>
                  <a:txBody>
                    <a:bodyPr/>
                    <a:lstStyle/>
                    <a:p>
                      <a:r>
                        <a:rPr lang="en-IN"/>
                        <a:t>                               USER</a:t>
                      </a:r>
                    </a:p>
                    <a:p>
                      <a:r>
                        <a:rPr lang="en-IN" sz="1600"/>
                        <a:t>         Uploads a report or asks a health question</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419999927"/>
                  </a:ext>
                </a:extLst>
              </a:tr>
            </a:tbl>
          </a:graphicData>
        </a:graphic>
      </p:graphicFrame>
      <p:graphicFrame>
        <p:nvGraphicFramePr>
          <p:cNvPr id="3" name="Table 2">
            <a:extLst>
              <a:ext uri="{FF2B5EF4-FFF2-40B4-BE49-F238E27FC236}">
                <a16:creationId xmlns:a16="http://schemas.microsoft.com/office/drawing/2014/main" id="{9CFCDBD8-7B82-1DBD-FF79-8C4355F2494B}"/>
              </a:ext>
            </a:extLst>
          </p:cNvPr>
          <p:cNvGraphicFramePr>
            <a:graphicFrameLocks noGrp="1"/>
          </p:cNvGraphicFramePr>
          <p:nvPr>
            <p:extLst>
              <p:ext uri="{D42A27DB-BD31-4B8C-83A1-F6EECF244321}">
                <p14:modId xmlns:p14="http://schemas.microsoft.com/office/powerpoint/2010/main" val="1726898320"/>
              </p:ext>
            </p:extLst>
          </p:nvPr>
        </p:nvGraphicFramePr>
        <p:xfrm>
          <a:off x="2979174" y="2510665"/>
          <a:ext cx="5230761" cy="625823"/>
        </p:xfrm>
        <a:graphic>
          <a:graphicData uri="http://schemas.openxmlformats.org/drawingml/2006/table">
            <a:tbl>
              <a:tblPr/>
              <a:tblGrid>
                <a:gridCol w="5230761">
                  <a:extLst>
                    <a:ext uri="{9D8B030D-6E8A-4147-A177-3AD203B41FA5}">
                      <a16:colId xmlns:a16="http://schemas.microsoft.com/office/drawing/2014/main" val="3294918701"/>
                    </a:ext>
                  </a:extLst>
                </a:gridCol>
              </a:tblGrid>
              <a:tr h="625823">
                <a:tc>
                  <a:txBody>
                    <a:bodyPr/>
                    <a:lstStyle/>
                    <a:p>
                      <a:r>
                        <a:rPr lang="en-IN" sz="1600"/>
                        <a:t>                    FRONTEND INTERFACE</a:t>
                      </a:r>
                    </a:p>
                    <a:p>
                      <a:r>
                        <a:rPr lang="en-IN" sz="1600"/>
                        <a:t>            Receives user input and displays results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864696894"/>
                  </a:ext>
                </a:extLst>
              </a:tr>
            </a:tbl>
          </a:graphicData>
        </a:graphic>
      </p:graphicFrame>
      <p:graphicFrame>
        <p:nvGraphicFramePr>
          <p:cNvPr id="4" name="Table 3">
            <a:extLst>
              <a:ext uri="{FF2B5EF4-FFF2-40B4-BE49-F238E27FC236}">
                <a16:creationId xmlns:a16="http://schemas.microsoft.com/office/drawing/2014/main" id="{D5F9F12A-093F-F0D7-2EFE-8FDCFEEC0557}"/>
              </a:ext>
            </a:extLst>
          </p:cNvPr>
          <p:cNvGraphicFramePr>
            <a:graphicFrameLocks noGrp="1"/>
          </p:cNvGraphicFramePr>
          <p:nvPr>
            <p:extLst>
              <p:ext uri="{D42A27DB-BD31-4B8C-83A1-F6EECF244321}">
                <p14:modId xmlns:p14="http://schemas.microsoft.com/office/powerpoint/2010/main" val="1054108124"/>
              </p:ext>
            </p:extLst>
          </p:nvPr>
        </p:nvGraphicFramePr>
        <p:xfrm>
          <a:off x="2998839" y="4693429"/>
          <a:ext cx="5211096" cy="625823"/>
        </p:xfrm>
        <a:graphic>
          <a:graphicData uri="http://schemas.openxmlformats.org/drawingml/2006/table">
            <a:tbl>
              <a:tblPr/>
              <a:tblGrid>
                <a:gridCol w="5211096">
                  <a:extLst>
                    <a:ext uri="{9D8B030D-6E8A-4147-A177-3AD203B41FA5}">
                      <a16:colId xmlns:a16="http://schemas.microsoft.com/office/drawing/2014/main" val="2211334286"/>
                    </a:ext>
                  </a:extLst>
                </a:gridCol>
              </a:tblGrid>
              <a:tr h="625823">
                <a:tc>
                  <a:txBody>
                    <a:bodyPr/>
                    <a:lstStyle/>
                    <a:p>
                      <a:r>
                        <a:rPr lang="en-IN"/>
                        <a:t>                      AI PROCESSING</a:t>
                      </a:r>
                    </a:p>
                    <a:p>
                      <a:r>
                        <a:rPr lang="en-IN" sz="1400"/>
                        <a:t>      </a:t>
                      </a:r>
                      <a:r>
                        <a:rPr lang="en-IN" sz="1400" err="1"/>
                        <a:t>Analyzes</a:t>
                      </a:r>
                      <a:r>
                        <a:rPr lang="en-IN" sz="1400"/>
                        <a:t> available information and generates a response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031416584"/>
                  </a:ext>
                </a:extLst>
              </a:tr>
            </a:tbl>
          </a:graphicData>
        </a:graphic>
      </p:graphicFrame>
      <p:graphicFrame>
        <p:nvGraphicFramePr>
          <p:cNvPr id="5" name="Table 4">
            <a:extLst>
              <a:ext uri="{FF2B5EF4-FFF2-40B4-BE49-F238E27FC236}">
                <a16:creationId xmlns:a16="http://schemas.microsoft.com/office/drawing/2014/main" id="{2128DDC5-A087-0B82-5CEB-4C08819695B5}"/>
              </a:ext>
            </a:extLst>
          </p:cNvPr>
          <p:cNvGraphicFramePr>
            <a:graphicFrameLocks noGrp="1"/>
          </p:cNvGraphicFramePr>
          <p:nvPr>
            <p:extLst>
              <p:ext uri="{D42A27DB-BD31-4B8C-83A1-F6EECF244321}">
                <p14:modId xmlns:p14="http://schemas.microsoft.com/office/powerpoint/2010/main" val="2571556024"/>
              </p:ext>
            </p:extLst>
          </p:nvPr>
        </p:nvGraphicFramePr>
        <p:xfrm>
          <a:off x="2949677" y="5669847"/>
          <a:ext cx="5319252" cy="625823"/>
        </p:xfrm>
        <a:graphic>
          <a:graphicData uri="http://schemas.openxmlformats.org/drawingml/2006/table">
            <a:tbl>
              <a:tblPr/>
              <a:tblGrid>
                <a:gridCol w="5319252">
                  <a:extLst>
                    <a:ext uri="{9D8B030D-6E8A-4147-A177-3AD203B41FA5}">
                      <a16:colId xmlns:a16="http://schemas.microsoft.com/office/drawing/2014/main" val="4188824694"/>
                    </a:ext>
                  </a:extLst>
                </a:gridCol>
              </a:tblGrid>
              <a:tr h="625823">
                <a:tc>
                  <a:txBody>
                    <a:bodyPr/>
                    <a:lstStyle/>
                    <a:p>
                      <a:r>
                        <a:rPr lang="en-IN"/>
                        <a:t>                      RESULT TO USER</a:t>
                      </a:r>
                    </a:p>
                    <a:p>
                      <a:r>
                        <a:rPr lang="en-IN" sz="1600"/>
                        <a:t>      Health explanation or relevant assistant response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95653536"/>
                  </a:ext>
                </a:extLst>
              </a:tr>
            </a:tbl>
          </a:graphicData>
        </a:graphic>
      </p:graphicFrame>
      <p:graphicFrame>
        <p:nvGraphicFramePr>
          <p:cNvPr id="6" name="Table 5">
            <a:extLst>
              <a:ext uri="{FF2B5EF4-FFF2-40B4-BE49-F238E27FC236}">
                <a16:creationId xmlns:a16="http://schemas.microsoft.com/office/drawing/2014/main" id="{38B33BD0-DB84-4187-CD7A-6AF3C3148F75}"/>
              </a:ext>
            </a:extLst>
          </p:cNvPr>
          <p:cNvGraphicFramePr>
            <a:graphicFrameLocks noGrp="1"/>
          </p:cNvGraphicFramePr>
          <p:nvPr>
            <p:extLst>
              <p:ext uri="{D42A27DB-BD31-4B8C-83A1-F6EECF244321}">
                <p14:modId xmlns:p14="http://schemas.microsoft.com/office/powerpoint/2010/main" val="119922482"/>
              </p:ext>
            </p:extLst>
          </p:nvPr>
        </p:nvGraphicFramePr>
        <p:xfrm>
          <a:off x="2979174" y="3602047"/>
          <a:ext cx="5230761" cy="625823"/>
        </p:xfrm>
        <a:graphic>
          <a:graphicData uri="http://schemas.openxmlformats.org/drawingml/2006/table">
            <a:tbl>
              <a:tblPr/>
              <a:tblGrid>
                <a:gridCol w="5230761">
                  <a:extLst>
                    <a:ext uri="{9D8B030D-6E8A-4147-A177-3AD203B41FA5}">
                      <a16:colId xmlns:a16="http://schemas.microsoft.com/office/drawing/2014/main" val="1305291252"/>
                    </a:ext>
                  </a:extLst>
                </a:gridCol>
              </a:tblGrid>
              <a:tr h="625823">
                <a:tc>
                  <a:txBody>
                    <a:bodyPr/>
                    <a:lstStyle/>
                    <a:p>
                      <a:r>
                        <a:rPr lang="en-IN" sz="1600"/>
                        <a:t>                    BACKEND PROCESSING</a:t>
                      </a:r>
                    </a:p>
                    <a:p>
                      <a:r>
                        <a:rPr lang="en-IN" sz="1400"/>
                        <a:t>    Processes requests and coordinates the required operations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705466555"/>
                  </a:ext>
                </a:extLst>
              </a:tr>
            </a:tbl>
          </a:graphicData>
        </a:graphic>
      </p:graphicFrame>
      <p:sp>
        <p:nvSpPr>
          <p:cNvPr id="7" name="TextBox 6">
            <a:extLst>
              <a:ext uri="{FF2B5EF4-FFF2-40B4-BE49-F238E27FC236}">
                <a16:creationId xmlns:a16="http://schemas.microsoft.com/office/drawing/2014/main" id="{24D53615-D6D6-6DF1-98BC-91794DBEF0AD}"/>
              </a:ext>
            </a:extLst>
          </p:cNvPr>
          <p:cNvSpPr txBox="1"/>
          <p:nvPr/>
        </p:nvSpPr>
        <p:spPr>
          <a:xfrm>
            <a:off x="1582994" y="341739"/>
            <a:ext cx="4980851" cy="646331"/>
          </a:xfrm>
          <a:prstGeom prst="rect">
            <a:avLst/>
          </a:prstGeom>
          <a:noFill/>
        </p:spPr>
        <p:txBody>
          <a:bodyPr wrap="none" rtlCol="0">
            <a:spAutoFit/>
          </a:bodyPr>
          <a:lstStyle/>
          <a:p>
            <a:r>
              <a:rPr lang="en-IN" sz="3600"/>
              <a:t>SYSTEM WORKFLOW</a:t>
            </a:r>
          </a:p>
        </p:txBody>
      </p:sp>
    </p:spTree>
    <p:extLst>
      <p:ext uri="{BB962C8B-B14F-4D97-AF65-F5344CB8AC3E}">
        <p14:creationId xmlns:p14="http://schemas.microsoft.com/office/powerpoint/2010/main" val="4037147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F038-6E31-A047-F1B2-7824A2E63FD9}"/>
              </a:ext>
            </a:extLst>
          </p:cNvPr>
          <p:cNvSpPr>
            <a:spLocks noGrp="1"/>
          </p:cNvSpPr>
          <p:nvPr>
            <p:ph type="title"/>
          </p:nvPr>
        </p:nvSpPr>
        <p:spPr>
          <a:xfrm>
            <a:off x="1602658" y="530942"/>
            <a:ext cx="8475407" cy="855405"/>
          </a:xfrm>
        </p:spPr>
        <p:txBody>
          <a:bodyPr/>
          <a:lstStyle/>
          <a:p>
            <a:r>
              <a:rPr lang="en-IN"/>
              <a:t>TECHNOLOGY AND ARCHITECTURE</a:t>
            </a:r>
          </a:p>
        </p:txBody>
      </p:sp>
      <p:pic>
        <p:nvPicPr>
          <p:cNvPr id="8" name="Content Placeholder 7">
            <a:extLst>
              <a:ext uri="{FF2B5EF4-FFF2-40B4-BE49-F238E27FC236}">
                <a16:creationId xmlns:a16="http://schemas.microsoft.com/office/drawing/2014/main" id="{ADFDF525-0C2D-685B-94D4-62AA2B56F6F9}"/>
              </a:ext>
            </a:extLst>
          </p:cNvPr>
          <p:cNvPicPr>
            <a:picLocks noGrp="1" noChangeAspect="1"/>
          </p:cNvPicPr>
          <p:nvPr>
            <p:ph idx="1"/>
          </p:nvPr>
        </p:nvPicPr>
        <p:blipFill>
          <a:blip r:embed="rId2"/>
          <a:stretch>
            <a:fillRect/>
          </a:stretch>
        </p:blipFill>
        <p:spPr>
          <a:xfrm>
            <a:off x="2054942" y="1504335"/>
            <a:ext cx="8888361" cy="4916129"/>
          </a:xfrm>
          <a:prstGeom prst="rect">
            <a:avLst/>
          </a:prstGeom>
        </p:spPr>
      </p:pic>
    </p:spTree>
    <p:extLst>
      <p:ext uri="{BB962C8B-B14F-4D97-AF65-F5344CB8AC3E}">
        <p14:creationId xmlns:p14="http://schemas.microsoft.com/office/powerpoint/2010/main" val="186262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DA12A-4615-BB19-9637-A5DA7E68B360}"/>
              </a:ext>
            </a:extLst>
          </p:cNvPr>
          <p:cNvSpPr>
            <a:spLocks noGrp="1"/>
          </p:cNvSpPr>
          <p:nvPr>
            <p:ph type="title"/>
          </p:nvPr>
        </p:nvSpPr>
        <p:spPr/>
        <p:txBody>
          <a:bodyPr/>
          <a:lstStyle/>
          <a:p>
            <a:pPr algn="l"/>
            <a:r>
              <a:rPr lang="en-IN"/>
              <a:t>EXPECTED BENEFITS</a:t>
            </a:r>
          </a:p>
        </p:txBody>
      </p:sp>
      <p:sp>
        <p:nvSpPr>
          <p:cNvPr id="3" name="Content Placeholder 2">
            <a:extLst>
              <a:ext uri="{FF2B5EF4-FFF2-40B4-BE49-F238E27FC236}">
                <a16:creationId xmlns:a16="http://schemas.microsoft.com/office/drawing/2014/main" id="{D37F171B-CE46-A36A-34BC-E4C63D991907}"/>
              </a:ext>
            </a:extLst>
          </p:cNvPr>
          <p:cNvSpPr>
            <a:spLocks noGrp="1"/>
          </p:cNvSpPr>
          <p:nvPr>
            <p:ph idx="1"/>
          </p:nvPr>
        </p:nvSpPr>
        <p:spPr>
          <a:xfrm>
            <a:off x="2497394" y="1759974"/>
            <a:ext cx="8072745" cy="4289970"/>
          </a:xfrm>
        </p:spPr>
        <p:txBody>
          <a:bodyPr/>
          <a:lstStyle/>
          <a:p>
            <a:pPr lvl="0"/>
            <a:r>
              <a:rPr lang="en-IN"/>
              <a:t>Makes medical information easier to understand.</a:t>
            </a:r>
          </a:p>
          <a:p>
            <a:pPr lvl="0"/>
            <a:r>
              <a:rPr lang="en-IN"/>
              <a:t>Helps users organize healthcare activities.</a:t>
            </a:r>
          </a:p>
          <a:p>
            <a:pPr lvl="0"/>
            <a:r>
              <a:rPr lang="en-IN"/>
              <a:t>Supports timely medicine reminders.</a:t>
            </a:r>
          </a:p>
          <a:p>
            <a:pPr lvl="0"/>
            <a:r>
              <a:rPr lang="en-IN"/>
              <a:t>Makes appointment tracking more convenient.</a:t>
            </a:r>
          </a:p>
          <a:p>
            <a:pPr lvl="0"/>
            <a:r>
              <a:rPr lang="en-IN"/>
              <a:t>Provides easier access to health-related information.</a:t>
            </a:r>
          </a:p>
          <a:p>
            <a:pPr lvl="0"/>
            <a:r>
              <a:rPr lang="en-IN"/>
              <a:t>Encourages users to prepare for conversations with healthcare professionals.</a:t>
            </a:r>
          </a:p>
          <a:p>
            <a:endParaRPr lang="en-IN"/>
          </a:p>
        </p:txBody>
      </p:sp>
    </p:spTree>
    <p:extLst>
      <p:ext uri="{BB962C8B-B14F-4D97-AF65-F5344CB8AC3E}">
        <p14:creationId xmlns:p14="http://schemas.microsoft.com/office/powerpoint/2010/main" val="2866975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81B6-7F17-E57E-D70E-5B0189AC0EF9}"/>
              </a:ext>
            </a:extLst>
          </p:cNvPr>
          <p:cNvSpPr>
            <a:spLocks noGrp="1"/>
          </p:cNvSpPr>
          <p:nvPr>
            <p:ph type="title"/>
          </p:nvPr>
        </p:nvSpPr>
        <p:spPr>
          <a:xfrm>
            <a:off x="2320413" y="805817"/>
            <a:ext cx="8240444" cy="1081705"/>
          </a:xfrm>
        </p:spPr>
        <p:txBody>
          <a:bodyPr>
            <a:normAutofit/>
          </a:bodyPr>
          <a:lstStyle/>
          <a:p>
            <a:pPr algn="l"/>
            <a:r>
              <a:rPr lang="en-IN" sz="2000"/>
              <a:t>SAFETY AND PRIVACY                       FUTURE ENHANCEMENT </a:t>
            </a:r>
          </a:p>
        </p:txBody>
      </p:sp>
      <p:sp>
        <p:nvSpPr>
          <p:cNvPr id="3" name="Content Placeholder 2">
            <a:extLst>
              <a:ext uri="{FF2B5EF4-FFF2-40B4-BE49-F238E27FC236}">
                <a16:creationId xmlns:a16="http://schemas.microsoft.com/office/drawing/2014/main" id="{8638EF37-E9BC-5798-F851-C52729A0ADC7}"/>
              </a:ext>
            </a:extLst>
          </p:cNvPr>
          <p:cNvSpPr>
            <a:spLocks noGrp="1"/>
          </p:cNvSpPr>
          <p:nvPr>
            <p:ph sz="half" idx="1"/>
          </p:nvPr>
        </p:nvSpPr>
        <p:spPr>
          <a:xfrm>
            <a:off x="2084440" y="1691148"/>
            <a:ext cx="4277032" cy="4358796"/>
          </a:xfrm>
        </p:spPr>
        <p:txBody>
          <a:bodyPr>
            <a:normAutofit fontScale="92500" lnSpcReduction="10000"/>
          </a:bodyPr>
          <a:lstStyle/>
          <a:p>
            <a:pPr lvl="0"/>
            <a:r>
              <a:rPr lang="en-IN"/>
              <a:t>Protect personal and medical information.</a:t>
            </a:r>
          </a:p>
          <a:p>
            <a:pPr lvl="0"/>
            <a:r>
              <a:rPr lang="en-IN"/>
              <a:t>Avoid exposing API keys or medical records publicly.</a:t>
            </a:r>
          </a:p>
          <a:p>
            <a:pPr lvl="0"/>
            <a:r>
              <a:rPr lang="en-IN"/>
              <a:t>Clearly identify AI-generated explanations.</a:t>
            </a:r>
          </a:p>
          <a:p>
            <a:pPr lvl="0"/>
            <a:r>
              <a:rPr lang="en-IN"/>
              <a:t>Do not present AI responses as a confirmed diagnosis.</a:t>
            </a:r>
          </a:p>
          <a:p>
            <a:pPr lvl="0"/>
            <a:r>
              <a:rPr lang="en-IN"/>
              <a:t>Encourage consultation with qualified healthcare professionals.</a:t>
            </a:r>
          </a:p>
          <a:p>
            <a:endParaRPr lang="en-IN"/>
          </a:p>
        </p:txBody>
      </p:sp>
      <p:sp>
        <p:nvSpPr>
          <p:cNvPr id="4" name="Content Placeholder 3">
            <a:extLst>
              <a:ext uri="{FF2B5EF4-FFF2-40B4-BE49-F238E27FC236}">
                <a16:creationId xmlns:a16="http://schemas.microsoft.com/office/drawing/2014/main" id="{128F15C3-B86E-91D0-B597-EF27363FA2FC}"/>
              </a:ext>
            </a:extLst>
          </p:cNvPr>
          <p:cNvSpPr>
            <a:spLocks noGrp="1"/>
          </p:cNvSpPr>
          <p:nvPr>
            <p:ph sz="half" idx="2"/>
          </p:nvPr>
        </p:nvSpPr>
        <p:spPr>
          <a:xfrm>
            <a:off x="6567948" y="1691148"/>
            <a:ext cx="4109884" cy="4358796"/>
          </a:xfrm>
        </p:spPr>
        <p:txBody>
          <a:bodyPr>
            <a:normAutofit fontScale="92500" lnSpcReduction="10000"/>
          </a:bodyPr>
          <a:lstStyle/>
          <a:p>
            <a:pPr lvl="0"/>
            <a:r>
              <a:rPr lang="en-IN"/>
              <a:t>Tamil and other regional-language support.</a:t>
            </a:r>
          </a:p>
          <a:p>
            <a:pPr lvl="0"/>
            <a:r>
              <a:rPr lang="en-IN"/>
              <a:t>OCR for scanned medical reports and prescriptions.</a:t>
            </a:r>
          </a:p>
          <a:p>
            <a:pPr lvl="0"/>
            <a:r>
              <a:rPr lang="en-IN"/>
              <a:t>A unified, chronological health-record timeline.</a:t>
            </a:r>
          </a:p>
          <a:p>
            <a:pPr lvl="0"/>
            <a:r>
              <a:rPr lang="en-IN"/>
              <a:t>Secure integration with health-data standards such as FHIR.</a:t>
            </a:r>
          </a:p>
          <a:p>
            <a:pPr lvl="0"/>
            <a:r>
              <a:rPr lang="en-IN"/>
              <a:t>Voice-based interaction and accessible controls.</a:t>
            </a:r>
          </a:p>
          <a:p>
            <a:endParaRPr lang="en-IN"/>
          </a:p>
        </p:txBody>
      </p:sp>
      <p:graphicFrame>
        <p:nvGraphicFramePr>
          <p:cNvPr id="5" name="Table 4">
            <a:extLst>
              <a:ext uri="{FF2B5EF4-FFF2-40B4-BE49-F238E27FC236}">
                <a16:creationId xmlns:a16="http://schemas.microsoft.com/office/drawing/2014/main" id="{8D378C0A-23C7-601B-F2F2-E85B99B9CF68}"/>
              </a:ext>
            </a:extLst>
          </p:cNvPr>
          <p:cNvGraphicFramePr>
            <a:graphicFrameLocks noGrp="1"/>
          </p:cNvGraphicFramePr>
          <p:nvPr>
            <p:extLst>
              <p:ext uri="{D42A27DB-BD31-4B8C-83A1-F6EECF244321}">
                <p14:modId xmlns:p14="http://schemas.microsoft.com/office/powerpoint/2010/main" val="3057985928"/>
              </p:ext>
            </p:extLst>
          </p:nvPr>
        </p:nvGraphicFramePr>
        <p:xfrm>
          <a:off x="1967465" y="570271"/>
          <a:ext cx="4325180" cy="5338916"/>
        </p:xfrm>
        <a:graphic>
          <a:graphicData uri="http://schemas.openxmlformats.org/drawingml/2006/table">
            <a:tbl>
              <a:tblPr/>
              <a:tblGrid>
                <a:gridCol w="4325180">
                  <a:extLst>
                    <a:ext uri="{9D8B030D-6E8A-4147-A177-3AD203B41FA5}">
                      <a16:colId xmlns:a16="http://schemas.microsoft.com/office/drawing/2014/main" val="3034793976"/>
                    </a:ext>
                  </a:extLst>
                </a:gridCol>
              </a:tblGrid>
              <a:tr h="5338916">
                <a:tc>
                  <a:txBody>
                    <a:bodyPr/>
                    <a:lstStyle/>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225655473"/>
                  </a:ext>
                </a:extLst>
              </a:tr>
            </a:tbl>
          </a:graphicData>
        </a:graphic>
      </p:graphicFrame>
      <p:graphicFrame>
        <p:nvGraphicFramePr>
          <p:cNvPr id="6" name="Table 5">
            <a:extLst>
              <a:ext uri="{FF2B5EF4-FFF2-40B4-BE49-F238E27FC236}">
                <a16:creationId xmlns:a16="http://schemas.microsoft.com/office/drawing/2014/main" id="{7AC33280-B1A8-29C8-8768-7370A669384F}"/>
              </a:ext>
            </a:extLst>
          </p:cNvPr>
          <p:cNvGraphicFramePr>
            <a:graphicFrameLocks noGrp="1"/>
          </p:cNvGraphicFramePr>
          <p:nvPr>
            <p:extLst>
              <p:ext uri="{D42A27DB-BD31-4B8C-83A1-F6EECF244321}">
                <p14:modId xmlns:p14="http://schemas.microsoft.com/office/powerpoint/2010/main" val="2722276918"/>
              </p:ext>
            </p:extLst>
          </p:nvPr>
        </p:nvGraphicFramePr>
        <p:xfrm>
          <a:off x="6538453" y="570271"/>
          <a:ext cx="4178708" cy="5338916"/>
        </p:xfrm>
        <a:graphic>
          <a:graphicData uri="http://schemas.openxmlformats.org/drawingml/2006/table">
            <a:tbl>
              <a:tblPr/>
              <a:tblGrid>
                <a:gridCol w="4178708">
                  <a:extLst>
                    <a:ext uri="{9D8B030D-6E8A-4147-A177-3AD203B41FA5}">
                      <a16:colId xmlns:a16="http://schemas.microsoft.com/office/drawing/2014/main" val="3237085148"/>
                    </a:ext>
                  </a:extLst>
                </a:gridCol>
              </a:tblGrid>
              <a:tr h="5338916">
                <a:tc>
                  <a:txBody>
                    <a:bodyPr/>
                    <a:lstStyle/>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30224603"/>
                  </a:ext>
                </a:extLst>
              </a:tr>
            </a:tbl>
          </a:graphicData>
        </a:graphic>
      </p:graphicFrame>
    </p:spTree>
    <p:extLst>
      <p:ext uri="{BB962C8B-B14F-4D97-AF65-F5344CB8AC3E}">
        <p14:creationId xmlns:p14="http://schemas.microsoft.com/office/powerpoint/2010/main" val="39830118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{BCDD9F36-53CF-443E-8CAB-6B61373D6E1B}TF37254b02-f5b5-44b0-803d-e6af9466a024d8712c6d-28d3f990fef7</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Madison</vt:lpstr>
      <vt:lpstr>AI-POWERED PERSONAL HEALTH COPILOT </vt:lpstr>
      <vt:lpstr>PROBLEM STATEMENT</vt:lpstr>
      <vt:lpstr>PROPOSED SOLUTION</vt:lpstr>
      <vt:lpstr>KEY FEATURES</vt:lpstr>
      <vt:lpstr>PowerPoint Presentation</vt:lpstr>
      <vt:lpstr>TECHNOLOGY AND ARCHITECTURE</vt:lpstr>
      <vt:lpstr>EXPECTED BENEFITS</vt:lpstr>
      <vt:lpstr>SAFETY AND PRIVACY                       FUTURE ENHANCEMENT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PERSONAL HEALTH COPILOT </dc:title>
  <dc:creator>preethi m</dc:creator>
  <cp:lastModifiedBy>Preethi M</cp:lastModifiedBy>
  <cp:revision>1</cp:revision>
  <dcterms:created xsi:type="dcterms:W3CDTF">2026-10-24T11:17:00Z</dcterms:created>
  <dcterms:modified xsi:type="dcterms:W3CDTF">2026-10-24T16:29:46Z</dcterms:modified>
</cp:coreProperties>
</file>