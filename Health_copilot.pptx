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F697F7-FC52-474B-9757-55791E35C043}" v="1" dt="2026-10-13T05:12:16.3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235440" y="594360"/>
            <a:ext cx="1920240" cy="1920240"/>
          </a:xfrm>
          <a:prstGeom prst="ellipse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241280" y="2880360"/>
            <a:ext cx="1143000" cy="1143000"/>
          </a:xfrm>
          <a:prstGeom prst="ellipse">
            <a:avLst/>
          </a:prstGeom>
          <a:solidFill>
            <a:srgbClr val="43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86800" y="4389120"/>
            <a:ext cx="594360" cy="594360"/>
          </a:xfrm>
          <a:prstGeom prst="ellipse">
            <a:avLst/>
          </a:prstGeom>
          <a:solidFill>
            <a:srgbClr val="F29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607040" y="4983480"/>
            <a:ext cx="347472" cy="347472"/>
          </a:xfrm>
          <a:prstGeom prst="ellipse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549640" y="1600200"/>
            <a:ext cx="2240280" cy="2240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454896" y="1965960"/>
            <a:ext cx="411480" cy="1508760"/>
          </a:xfrm>
          <a:prstGeom prst="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06256" y="2514600"/>
            <a:ext cx="1508760" cy="411480"/>
          </a:xfrm>
          <a:prstGeom prst="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417320"/>
            <a:ext cx="7132320" cy="7315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HealthMate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67712"/>
            <a:ext cx="722376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300" b="0">
                <a:solidFill>
                  <a:srgbClr val="D0E0F1"/>
                </a:solidFill>
                <a:latin typeface="Aptos"/>
              </a:rPr>
              <a:t>AI-Powered Personal Health Copilot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154680"/>
            <a:ext cx="6675120" cy="9144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From scattered medical records to a clearer, safer, more organized health journey.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2248D5-9C2C-4B7D-6CC8-0952D5821299}"/>
              </a:ext>
            </a:extLst>
          </p:cNvPr>
          <p:cNvSpPr txBox="1"/>
          <p:nvPr/>
        </p:nvSpPr>
        <p:spPr>
          <a:xfrm>
            <a:off x="9700260" y="5967906"/>
            <a:ext cx="291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</a:t>
            </a:r>
          </a:p>
          <a:p>
            <a:r>
              <a:rPr lang="en-US" dirty="0">
                <a:solidFill>
                  <a:schemeClr val="bg1"/>
                </a:solidFill>
              </a:rPr>
              <a:t>SPARKVISION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600" b="1">
                <a:solidFill>
                  <a:srgbClr val="0F1F38"/>
                </a:solidFill>
                <a:latin typeface="Aptos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9601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100" b="1">
                <a:solidFill>
                  <a:srgbClr val="0F1F38"/>
                </a:solidFill>
                <a:latin typeface="Aptos"/>
              </a:rPr>
              <a:t>Patients receive health information in disconnected formats—prescriptions, lab reports, discharge summaries, scans, and wellness records. These records are difficult to search, compare, and understand over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74320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1248" y="2907792"/>
            <a:ext cx="64008" cy="1682496"/>
          </a:xfrm>
          <a:prstGeom prst="round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33271" y="2926080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Fragmented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337560"/>
            <a:ext cx="2971800" cy="12984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Important information is spread across paper files, PDFs, photos, and apps.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274320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26280" y="2907792"/>
            <a:ext cx="64008" cy="1682496"/>
          </a:xfrm>
          <a:prstGeom prst="roundRect">
            <a:avLst/>
          </a:prstGeom>
          <a:solidFill>
            <a:srgbClr val="43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18304" y="2926080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Hard-to-read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8304" y="3337560"/>
            <a:ext cx="2971800" cy="12984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Medical terminology, abbreviations, handwriting, and reference ranges can be confusing.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47472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202168" y="2907792"/>
            <a:ext cx="64008" cy="1682496"/>
          </a:xfrm>
          <a:prstGeom prst="roundRect">
            <a:avLst/>
          </a:prstGeom>
          <a:solidFill>
            <a:srgbClr val="F29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2" y="2926080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No unified journey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337560"/>
            <a:ext cx="2971800" cy="129844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People may struggle to track changes, recall medicine details, or prepare questions for appointments.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257800"/>
            <a:ext cx="10515600" cy="6858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800" b="1">
                <a:solidFill>
                  <a:srgbClr val="27354B"/>
                </a:solidFill>
                <a:latin typeface="Aptos"/>
              </a:rPr>
              <a:t>Core problem: there is no simple, user-friendly place to turn a person’s existing health documents into verified, understandable, chronological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800" b="0">
                <a:solidFill>
                  <a:srgbClr val="69788E"/>
                </a:solidFill>
                <a:latin typeface="Aptos"/>
              </a:rPr>
              <a:t>ALTRIX LABS HACKATHON  •  AI-POWERED PERSONAL HEALTH COPILOT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600" b="1">
                <a:solidFill>
                  <a:srgbClr val="0F1F38"/>
                </a:solidFill>
                <a:latin typeface="Aptos"/>
              </a:rPr>
              <a:t>Challenge Goal &amp;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6858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000" b="1">
                <a:solidFill>
                  <a:srgbClr val="0F1F38"/>
                </a:solidFill>
                <a:latin typeface="Aptos"/>
              </a:rPr>
              <a:t>Build a secure AI-assisted health workspace that extracts key information from records, explains it in plain language, and organizes it into one timeline.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1920240" cy="475488"/>
          </a:xfrm>
          <a:prstGeom prst="round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" y="2249424"/>
            <a:ext cx="173736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221992"/>
            <a:ext cx="8138160" cy="34747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500" b="0">
                <a:solidFill>
                  <a:srgbClr val="27354B"/>
                </a:solidFill>
                <a:latin typeface="Aptos"/>
              </a:rPr>
              <a:t>Upload PDFs, images, prescriptions, and diagnostic reports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62072"/>
            <a:ext cx="1920240" cy="475488"/>
          </a:xfrm>
          <a:prstGeom prst="roundRect">
            <a:avLst/>
          </a:prstGeom>
          <a:solidFill>
            <a:srgbClr val="43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962656"/>
            <a:ext cx="173736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935224"/>
            <a:ext cx="8138160" cy="34747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500" b="0">
                <a:solidFill>
                  <a:srgbClr val="27354B"/>
                </a:solidFill>
                <a:latin typeface="Aptos"/>
              </a:rPr>
              <a:t>Identify dates, medicine names, dosages, tests, values, and units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75304"/>
            <a:ext cx="1920240" cy="475488"/>
          </a:xfrm>
          <a:prstGeom prst="round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3675888"/>
            <a:ext cx="173736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EXPLAIN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648456"/>
            <a:ext cx="8138160" cy="34747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500" b="0">
                <a:solidFill>
                  <a:srgbClr val="27354B"/>
                </a:solidFill>
                <a:latin typeface="Aptos"/>
              </a:rPr>
              <a:t>Generate simple-language summaries grounded in the source record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288536"/>
            <a:ext cx="1920240" cy="475488"/>
          </a:xfrm>
          <a:prstGeom prst="roundRect">
            <a:avLst/>
          </a:prstGeom>
          <a:solidFill>
            <a:srgbClr val="43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" y="4389120"/>
            <a:ext cx="173736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ORGANIZE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361688"/>
            <a:ext cx="8138160" cy="34747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500" b="0">
                <a:solidFill>
                  <a:srgbClr val="27354B"/>
                </a:solidFill>
                <a:latin typeface="Aptos"/>
              </a:rPr>
              <a:t>Store verified details in a unified health profile and timeline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001768"/>
            <a:ext cx="1920240" cy="475488"/>
          </a:xfrm>
          <a:prstGeom prst="round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" y="5102352"/>
            <a:ext cx="173736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PREPARE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5074920"/>
            <a:ext cx="8138160" cy="34747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500" b="0">
                <a:solidFill>
                  <a:srgbClr val="27354B"/>
                </a:solidFill>
                <a:latin typeface="Aptos"/>
              </a:rPr>
              <a:t>Create a concise doctor-visit summary and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800" b="0">
                <a:solidFill>
                  <a:srgbClr val="69788E"/>
                </a:solidFill>
                <a:latin typeface="Aptos"/>
              </a:rPr>
              <a:t>ALTRIX LABS HACKATHON  •  AI-POWERED PERSONAL HEALTH COPILOT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600" b="1">
                <a:solidFill>
                  <a:srgbClr val="0F1F38"/>
                </a:solidFill>
                <a:latin typeface="Aptos"/>
              </a:rPr>
              <a:t>Target Users &amp; Main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1581912"/>
            <a:ext cx="64008" cy="1636776"/>
          </a:xfrm>
          <a:prstGeom prst="round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600200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Individuals &amp; 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2971800" cy="125272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Organize reports and keep a useful record of health information over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26280" y="1581912"/>
            <a:ext cx="64008" cy="1636776"/>
          </a:xfrm>
          <a:prstGeom prst="roundRect">
            <a:avLst/>
          </a:prstGeom>
          <a:solidFill>
            <a:srgbClr val="43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18304" y="1600200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People managing long-term care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2011680"/>
            <a:ext cx="2971800" cy="125272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Review dated results and prepare a concise summary for a clinician.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02168" y="1581912"/>
            <a:ext cx="64008" cy="1636776"/>
          </a:xfrm>
          <a:prstGeom prst="roundRect">
            <a:avLst/>
          </a:prstGeom>
          <a:solidFill>
            <a:srgbClr val="F29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600200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Regional-language users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011680"/>
            <a:ext cx="2971800" cy="125272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Understand selected report terms through simple explanations in a preferred language.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977639"/>
            <a:ext cx="301752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700" b="1">
                <a:solidFill>
                  <a:srgbClr val="0F1F38"/>
                </a:solidFill>
                <a:latin typeface="Aptos"/>
              </a:rPr>
              <a:t>Example user journey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72000"/>
            <a:ext cx="1874519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4681728"/>
            <a:ext cx="27432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400" b="1">
                <a:solidFill>
                  <a:srgbClr val="00AD9C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681728"/>
            <a:ext cx="132588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1">
                <a:solidFill>
                  <a:srgbClr val="0F1F38"/>
                </a:solidFill>
                <a:latin typeface="Aptos"/>
              </a:rPr>
              <a:t>Upload report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569464" y="4983480"/>
            <a:ext cx="310896" cy="0"/>
          </a:xfrm>
          <a:prstGeom prst="line">
            <a:avLst/>
          </a:prstGeom>
          <a:ln w="25400">
            <a:solidFill>
              <a:srgbClr val="00A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953512" y="4572000"/>
            <a:ext cx="1874519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63240" y="4681728"/>
            <a:ext cx="27432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400" b="1">
                <a:solidFill>
                  <a:srgbClr val="00AD9C"/>
                </a:solidFill>
                <a:latin typeface="Aptos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64992" y="4681728"/>
            <a:ext cx="132588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1">
                <a:solidFill>
                  <a:srgbClr val="0F1F38"/>
                </a:solidFill>
                <a:latin typeface="Aptos"/>
              </a:rPr>
              <a:t>Check extracted data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837176" y="4983480"/>
            <a:ext cx="310896" cy="0"/>
          </a:xfrm>
          <a:prstGeom prst="line">
            <a:avLst/>
          </a:prstGeom>
          <a:ln w="25400">
            <a:solidFill>
              <a:srgbClr val="00A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221224" y="4572000"/>
            <a:ext cx="1874519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30952" y="4681728"/>
            <a:ext cx="27432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400" b="1">
                <a:solidFill>
                  <a:srgbClr val="00AD9C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32704" y="4681728"/>
            <a:ext cx="132588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1">
                <a:solidFill>
                  <a:srgbClr val="0F1F38"/>
                </a:solidFill>
                <a:latin typeface="Aptos"/>
              </a:rPr>
              <a:t>Read summary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04888" y="4983480"/>
            <a:ext cx="310895" cy="0"/>
          </a:xfrm>
          <a:prstGeom prst="line">
            <a:avLst/>
          </a:prstGeom>
          <a:ln w="25400">
            <a:solidFill>
              <a:srgbClr val="00A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488936" y="4572000"/>
            <a:ext cx="1874519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98663" y="4681728"/>
            <a:ext cx="27432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400" b="1">
                <a:solidFill>
                  <a:srgbClr val="00AD9C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0415" y="4681728"/>
            <a:ext cx="132588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1">
                <a:solidFill>
                  <a:srgbClr val="0F1F38"/>
                </a:solidFill>
                <a:latin typeface="Aptos"/>
              </a:rPr>
              <a:t>View timeline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372600" y="4983480"/>
            <a:ext cx="310896" cy="0"/>
          </a:xfrm>
          <a:prstGeom prst="line">
            <a:avLst/>
          </a:prstGeom>
          <a:ln w="25400">
            <a:solidFill>
              <a:srgbClr val="00A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756648" y="4572000"/>
            <a:ext cx="1874519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866376" y="4681728"/>
            <a:ext cx="27432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400" b="1">
                <a:solidFill>
                  <a:srgbClr val="00AD9C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68128" y="4681728"/>
            <a:ext cx="132588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1">
                <a:solidFill>
                  <a:srgbClr val="0F1F38"/>
                </a:solidFill>
                <a:latin typeface="Aptos"/>
              </a:rPr>
              <a:t>Export doctor brief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800" b="0">
                <a:solidFill>
                  <a:srgbClr val="69788E"/>
                </a:solidFill>
                <a:latin typeface="Aptos"/>
              </a:rPr>
              <a:t>ALTRIX LABS HACKATHON  •  AI-POWERED PERSONAL HEALTH COPILOT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600" b="1">
                <a:solidFill>
                  <a:srgbClr val="0F1F38"/>
                </a:solidFill>
                <a:latin typeface="Aptos"/>
              </a:rPr>
              <a:t>Core Features Aligned to the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1490472"/>
            <a:ext cx="64008" cy="1362456"/>
          </a:xfrm>
          <a:prstGeom prst="round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508760"/>
            <a:ext cx="470916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1. Medical record intelligence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920240"/>
            <a:ext cx="4709160" cy="97840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7354B"/>
                </a:solidFill>
                <a:latin typeface="Aptos"/>
              </a:rPr>
              <a:t>PDF/image upload; OCR/text extraction; structured fields for medicines, dosages, test values, dates, and document type.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19088" y="1490472"/>
            <a:ext cx="64008" cy="1362456"/>
          </a:xfrm>
          <a:prstGeom prst="roundRect">
            <a:avLst/>
          </a:prstGeom>
          <a:solidFill>
            <a:srgbClr val="43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1112" y="1508760"/>
            <a:ext cx="470916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2. Simple-language AI summaries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1920240"/>
            <a:ext cx="4709160" cy="97840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7354B"/>
                </a:solidFill>
                <a:latin typeface="Aptos"/>
              </a:rPr>
              <a:t>Explain terms and flag values outside the report’s stated reference range, with source context and uncertainty.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337560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41248" y="3502152"/>
            <a:ext cx="64008" cy="1362456"/>
          </a:xfrm>
          <a:prstGeom prst="roundRect">
            <a:avLst/>
          </a:prstGeom>
          <a:solidFill>
            <a:srgbClr val="F29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1" y="3520440"/>
            <a:ext cx="470916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3. Unified health timeline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931920"/>
            <a:ext cx="4709160" cy="97840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7354B"/>
                </a:solidFill>
                <a:latin typeface="Aptos"/>
              </a:rPr>
              <a:t>Search and filter reports by date/type; compare like-for-like measurements only after validation.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337560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19088" y="3502152"/>
            <a:ext cx="64008" cy="1362456"/>
          </a:xfrm>
          <a:prstGeom prst="round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1112" y="3520440"/>
            <a:ext cx="470916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4. Regional-language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3931920"/>
            <a:ext cx="4709160" cy="97840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7354B"/>
                </a:solidFill>
                <a:latin typeface="Aptos"/>
              </a:rPr>
              <a:t>Offer English plus Tamil summaries as a prototype bonus; show original text alongside translation.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623560"/>
            <a:ext cx="10515600" cy="36576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400" b="1">
                <a:solidFill>
                  <a:srgbClr val="C94A4A"/>
                </a:solidFill>
                <a:latin typeface="Aptos"/>
              </a:rPr>
              <a:t>Human review is required for uncertain OCR, medication names, dosages, and extracted test values.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800" b="0">
                <a:solidFill>
                  <a:srgbClr val="69788E"/>
                </a:solidFill>
                <a:latin typeface="Aptos"/>
              </a:rPr>
              <a:t>ALTRIX LABS HACKATHON  •  AI-POWERED PERSONAL HEALTH COPILOT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600" b="1">
                <a:solidFill>
                  <a:srgbClr val="0F1F38"/>
                </a:solidFill>
                <a:latin typeface="Aptos"/>
              </a:rPr>
              <a:t>Technical Architecture &amp; Data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2" y="1499616"/>
            <a:ext cx="1819656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00AD9C"/>
                </a:solidFill>
                <a:latin typeface="Aptos"/>
              </a:rPr>
              <a:t>1. 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810512"/>
            <a:ext cx="1819656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000" b="0">
                <a:solidFill>
                  <a:srgbClr val="27354B"/>
                </a:solidFill>
                <a:latin typeface="Aptos"/>
              </a:rPr>
              <a:t>Web / mobile 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37160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136392" y="1499616"/>
            <a:ext cx="1819656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4377E8"/>
                </a:solidFill>
                <a:latin typeface="Aptos"/>
              </a:rPr>
              <a:t>2.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36392" y="1810512"/>
            <a:ext cx="1819656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000" b="0">
                <a:solidFill>
                  <a:srgbClr val="27354B"/>
                </a:solidFill>
                <a:latin typeface="Aptos"/>
              </a:rPr>
              <a:t>PDF / image upload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37160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9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68112" y="1499616"/>
            <a:ext cx="1819656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F29D4D"/>
                </a:solidFill>
                <a:latin typeface="Aptos"/>
              </a:rPr>
              <a:t>3. OCR / 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8112" y="1810512"/>
            <a:ext cx="1819656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000" b="0">
                <a:solidFill>
                  <a:srgbClr val="27354B"/>
                </a:solidFill>
                <a:latin typeface="Aptos"/>
              </a:rPr>
              <a:t>Text + layout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371600"/>
            <a:ext cx="196596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99831" y="1499616"/>
            <a:ext cx="1819656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00AD9C"/>
                </a:solidFill>
                <a:latin typeface="Aptos"/>
              </a:rPr>
              <a:t>4.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1810512"/>
            <a:ext cx="1819656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000" b="0">
                <a:solidFill>
                  <a:srgbClr val="27354B"/>
                </a:solidFill>
                <a:latin typeface="Aptos"/>
              </a:rPr>
              <a:t>Validated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058400" y="1371600"/>
            <a:ext cx="1417320" cy="777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7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131552" y="1499616"/>
            <a:ext cx="1271016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4377E8"/>
                </a:solidFill>
                <a:latin typeface="Aptos"/>
              </a:rPr>
              <a:t>5.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1552" y="1810512"/>
            <a:ext cx="1271016" cy="2011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000" b="0">
                <a:solidFill>
                  <a:srgbClr val="27354B"/>
                </a:solidFill>
                <a:latin typeface="Aptos"/>
              </a:rPr>
              <a:t>Summary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24912" y="1755648"/>
            <a:ext cx="292608" cy="0"/>
          </a:xfrm>
          <a:prstGeom prst="line">
            <a:avLst/>
          </a:prstGeom>
          <a:ln w="25400">
            <a:solidFill>
              <a:srgbClr val="00A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056632" y="1755648"/>
            <a:ext cx="292608" cy="0"/>
          </a:xfrm>
          <a:prstGeom prst="line">
            <a:avLst/>
          </a:prstGeom>
          <a:ln w="25400">
            <a:solidFill>
              <a:srgbClr val="00A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388352" y="1755648"/>
            <a:ext cx="292608" cy="0"/>
          </a:xfrm>
          <a:prstGeom prst="line">
            <a:avLst/>
          </a:prstGeom>
          <a:ln w="25400">
            <a:solidFill>
              <a:srgbClr val="00A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720072" y="1755648"/>
            <a:ext cx="292608" cy="0"/>
          </a:xfrm>
          <a:prstGeom prst="line">
            <a:avLst/>
          </a:prstGeom>
          <a:ln w="25400">
            <a:solidFill>
              <a:srgbClr val="00AD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" y="2788920"/>
            <a:ext cx="3246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78408" y="2953512"/>
            <a:ext cx="64008" cy="1271016"/>
          </a:xfrm>
          <a:prstGeom prst="round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70432" y="2971800"/>
            <a:ext cx="27432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Storage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383279"/>
            <a:ext cx="2743200" cy="8869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7354B"/>
                </a:solidFill>
                <a:latin typeface="Aptos"/>
              </a:rPr>
              <a:t>SQLite for prototype; store document metadata, verified extracted fields, user notes, and timestamps.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2788920"/>
            <a:ext cx="3246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636008" y="2953512"/>
            <a:ext cx="64008" cy="1271016"/>
          </a:xfrm>
          <a:prstGeom prst="roundRect">
            <a:avLst/>
          </a:prstGeom>
          <a:solidFill>
            <a:srgbClr val="43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28032" y="2971800"/>
            <a:ext cx="27432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Safety &amp; validation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8032" y="3383279"/>
            <a:ext cx="2743200" cy="8869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7354B"/>
                </a:solidFill>
                <a:latin typeface="Aptos"/>
              </a:rPr>
              <a:t>Schema checks, unit/date validation, confidence flags, human correction, and source traceability.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38160" y="2788920"/>
            <a:ext cx="3246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293608" y="2953512"/>
            <a:ext cx="64008" cy="1271016"/>
          </a:xfrm>
          <a:prstGeom prst="roundRect">
            <a:avLst/>
          </a:prstGeom>
          <a:solidFill>
            <a:srgbClr val="F29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85632" y="2971800"/>
            <a:ext cx="27432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Output layer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85632" y="3383279"/>
            <a:ext cx="2743200" cy="8869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7354B"/>
                </a:solidFill>
                <a:latin typeface="Aptos"/>
              </a:rPr>
              <a:t>Health timeline, report summary, comparison charts, and downloadable doctor brief.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074920"/>
            <a:ext cx="1069848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500" b="1">
                <a:solidFill>
                  <a:srgbClr val="0F1F38"/>
                </a:solidFill>
                <a:latin typeface="Aptos"/>
              </a:rPr>
              <a:t>Suggested stack: HTML/CSS/JavaScript • Python Flask • PyMuPDF • OCR engine for scanned pages • LLM API • SQLite • Chart.js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715000"/>
            <a:ext cx="1069848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200" b="1">
                <a:solidFill>
                  <a:srgbClr val="C94A4A"/>
                </a:solidFill>
                <a:latin typeface="Aptos"/>
              </a:rPr>
              <a:t>OCR output is not automatically trusted: preserve source files and require users to confirm critical extracted fields.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800" b="0">
                <a:solidFill>
                  <a:srgbClr val="69788E"/>
                </a:solidFill>
                <a:latin typeface="Aptos"/>
              </a:rPr>
              <a:t>ALTRIX LABS HACKATHON  •  AI-POWERED PERSONAL HEALTH COPILOT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600" b="1">
                <a:solidFill>
                  <a:srgbClr val="0F1F38"/>
                </a:solidFill>
                <a:latin typeface="Aptos"/>
              </a:rPr>
              <a:t>Structured Data Model &amp; ABDM Readiness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789920" cy="5486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800" b="1">
                <a:solidFill>
                  <a:srgbClr val="0F1F38"/>
                </a:solidFill>
                <a:latin typeface="Aptos"/>
              </a:rPr>
              <a:t>Keep the original document, extracted facts, and AI-generated explanation separate so each insight can be traced back to its source.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48840"/>
            <a:ext cx="20574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286000"/>
            <a:ext cx="1911095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00AD9C"/>
                </a:solidFill>
                <a:latin typeface="Aptos"/>
              </a:rPr>
              <a:t>PATIENT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24328"/>
            <a:ext cx="1911095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000" b="0">
                <a:solidFill>
                  <a:srgbClr val="27354B"/>
                </a:solidFill>
                <a:latin typeface="Aptos"/>
              </a:rPr>
              <a:t>internal ID
consent settings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2148840"/>
            <a:ext cx="20574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182112" y="2286000"/>
            <a:ext cx="1911095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00AD9C"/>
                </a:solidFill>
                <a:latin typeface="Aptos"/>
              </a:rPr>
              <a:t>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2" y="2624328"/>
            <a:ext cx="1911095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000" b="0">
                <a:solidFill>
                  <a:srgbClr val="27354B"/>
                </a:solidFill>
                <a:latin typeface="Aptos"/>
              </a:rPr>
              <a:t>type • date • file ref
source •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148840"/>
            <a:ext cx="20574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59552" y="2286000"/>
            <a:ext cx="1911095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00AD9C"/>
                </a:solidFill>
                <a:latin typeface="Aptos"/>
              </a:rPr>
              <a:t>OBSERVATION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552" y="2624328"/>
            <a:ext cx="1911095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000" b="0">
                <a:solidFill>
                  <a:srgbClr val="27354B"/>
                </a:solidFill>
                <a:latin typeface="Aptos"/>
              </a:rPr>
              <a:t>test • value • unit
range • date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2148840"/>
            <a:ext cx="205740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36992" y="2286000"/>
            <a:ext cx="1911095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00AD9C"/>
                </a:solidFill>
                <a:latin typeface="Aptos"/>
              </a:rPr>
              <a:t>MEDICATION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36992" y="2624328"/>
            <a:ext cx="1911095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000" b="0">
                <a:solidFill>
                  <a:srgbClr val="27354B"/>
                </a:solidFill>
                <a:latin typeface="Aptos"/>
              </a:rPr>
              <a:t>name • dose • route
frequency •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2148840"/>
            <a:ext cx="1508760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AD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40112" y="2286000"/>
            <a:ext cx="1362456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00AD9C"/>
                </a:solidFill>
                <a:latin typeface="Aptos"/>
              </a:rPr>
              <a:t>SUMMARY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40112" y="2624328"/>
            <a:ext cx="1362456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000" b="0">
                <a:solidFill>
                  <a:srgbClr val="27354B"/>
                </a:solidFill>
                <a:latin typeface="Aptos"/>
              </a:rPr>
              <a:t>language
model/version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794760"/>
            <a:ext cx="182880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Relationships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160520"/>
            <a:ext cx="1051560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500" b="0">
                <a:solidFill>
                  <a:srgbClr val="27354B"/>
                </a:solidFill>
                <a:latin typeface="Aptos"/>
              </a:rPr>
              <a:t>Patient 1—many Documents • Document 1—many Observations / Medications • Summary references its source documents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892040"/>
            <a:ext cx="4983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78408" y="5056631"/>
            <a:ext cx="64008" cy="585216"/>
          </a:xfrm>
          <a:prstGeom prst="round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70432" y="5074920"/>
            <a:ext cx="448056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ABDM / FHIR-style readiness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5486400"/>
            <a:ext cx="4480560" cy="20116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7354B"/>
                </a:solidFill>
                <a:latin typeface="Aptos"/>
              </a:rPr>
              <a:t>Plan a mapping layer for Patient, DocumentReference, Observation, MedicationStatement and Composition resources.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4892040"/>
            <a:ext cx="498348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19088" y="5056631"/>
            <a:ext cx="64008" cy="585216"/>
          </a:xfrm>
          <a:prstGeom prst="roundRect">
            <a:avLst/>
          </a:prstGeom>
          <a:solidFill>
            <a:srgbClr val="43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11112" y="5074920"/>
            <a:ext cx="448056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Mock ABHA link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11112" y="5486400"/>
            <a:ext cx="4480560" cy="20116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100" b="0">
                <a:solidFill>
                  <a:srgbClr val="27354B"/>
                </a:solidFill>
                <a:latin typeface="Aptos"/>
              </a:rPr>
              <a:t>Use a clearly labeled demo-only placeholder; never collect real ABHA data without approved integration and consent.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800" b="0">
                <a:solidFill>
                  <a:srgbClr val="69788E"/>
                </a:solidFill>
                <a:latin typeface="Aptos"/>
              </a:rPr>
              <a:t>ALTRIX LABS HACKATHON  •  AI-POWERED PERSONAL HEALTH COPILOT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600" b="1">
                <a:solidFill>
                  <a:srgbClr val="0F1F38"/>
                </a:solidFill>
                <a:latin typeface="Aptos"/>
              </a:rPr>
              <a:t>AI Strategy: Extract, Verify, Explain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0" y="411480"/>
            <a:ext cx="192024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/>
            <a:r>
              <a:rPr sz="900" b="1">
                <a:solidFill>
                  <a:srgbClr val="69788E"/>
                </a:solidFill>
                <a:latin typeface="Aptos"/>
              </a:rPr>
              <a:t>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64008" cy="1499616"/>
          </a:xfrm>
          <a:prstGeom prst="round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554480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Step A — OCR /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965960"/>
            <a:ext cx="2971800" cy="11155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7354B"/>
                </a:solidFill>
                <a:latin typeface="Aptos"/>
              </a:rPr>
              <a:t>Detect text and layout. Extract candidate fields with page/region references and confidence where supported.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716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26280" y="1536192"/>
            <a:ext cx="64008" cy="1499616"/>
          </a:xfrm>
          <a:prstGeom prst="roundRect">
            <a:avLst/>
          </a:prstGeom>
          <a:solidFill>
            <a:srgbClr val="43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18304" y="1554480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Step B —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1965960"/>
            <a:ext cx="2971800" cy="11155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7354B"/>
                </a:solidFill>
                <a:latin typeface="Aptos"/>
              </a:rPr>
              <a:t>Check required fields, date formats, plausible units, duplicates, and missing values; user corrects uncertainty.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747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02168" y="1536192"/>
            <a:ext cx="64008" cy="1499616"/>
          </a:xfrm>
          <a:prstGeom prst="roundRect">
            <a:avLst/>
          </a:prstGeom>
          <a:solidFill>
            <a:srgbClr val="F29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554480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Step C — grounded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1965960"/>
            <a:ext cx="2971800" cy="1115568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7354B"/>
                </a:solidFill>
                <a:latin typeface="Aptos"/>
              </a:rPr>
              <a:t>Send only relevant, consented text to the model. Require plain language, source context, and no diagnosis.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49039"/>
            <a:ext cx="27432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Example AI instruction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206240"/>
            <a:ext cx="10744200" cy="1234440"/>
          </a:xfrm>
          <a:prstGeom prst="roundRect">
            <a:avLst/>
          </a:prstGeom>
          <a:solidFill>
            <a:srgbClr val="E1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4462272"/>
            <a:ext cx="10241280" cy="7772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500" b="0">
                <a:solidFill>
                  <a:srgbClr val="0F1F38"/>
                </a:solidFill>
                <a:latin typeface="Aptos"/>
              </a:rPr>
              <a:t>“Summarize only the supplied report. Preserve the exact test names, values, units, dates, and stated reference ranges. Explain terms in plain language, identify uncertainty, and suggest questions to discuss with a qualified clinician. Do not diagnose or recommend starting, stopping, or changing medication.”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715000"/>
            <a:ext cx="1060704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1">
                <a:solidFill>
                  <a:srgbClr val="C94A4A"/>
                </a:solidFill>
                <a:latin typeface="Aptos"/>
              </a:rPr>
              <a:t>For handwriting or low-quality scans, show an uncertainty warning and ask the user to confirm—not silently guess.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800" b="0">
                <a:solidFill>
                  <a:srgbClr val="69788E"/>
                </a:solidFill>
                <a:latin typeface="Aptos"/>
              </a:rPr>
              <a:t>ALTRIX LABS HACKATHON  •  AI-POWERED PERSONAL HEALTH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0528"/>
            <a:ext cx="41148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/>
            <a:r>
              <a:rPr sz="900" b="0">
                <a:solidFill>
                  <a:srgbClr val="69788E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600" b="1">
                <a:solidFill>
                  <a:srgbClr val="0F1F38"/>
                </a:solidFill>
                <a:latin typeface="Aptos"/>
              </a:rPr>
              <a:t>Prototype Screens &amp; 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22960" y="1298448"/>
            <a:ext cx="438912" cy="438912"/>
          </a:xfrm>
          <a:prstGeom prst="ellipse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89888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335024"/>
            <a:ext cx="246888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Upload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316736"/>
            <a:ext cx="704088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Choose a PDF or image; show accepted file types and consent note.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24128" y="1737360"/>
            <a:ext cx="22860" cy="43891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22960" y="2212848"/>
            <a:ext cx="438912" cy="438912"/>
          </a:xfrm>
          <a:prstGeom prst="ellipse">
            <a:avLst/>
          </a:prstGeom>
          <a:solidFill>
            <a:srgbClr val="43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304288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249424"/>
            <a:ext cx="246888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Review extracted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2231136"/>
            <a:ext cx="704088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Display medicine/test, dosage/value, unit, date, and source snippet.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" y="2651760"/>
            <a:ext cx="22860" cy="43891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" y="3127248"/>
            <a:ext cx="438912" cy="438912"/>
          </a:xfrm>
          <a:prstGeom prst="ellipse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3218688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163824"/>
            <a:ext cx="246888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Understand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3145536"/>
            <a:ext cx="704088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Show a concise, sourced plain-language summary; highlight uncertainty.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24128" y="3566160"/>
            <a:ext cx="22860" cy="43891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22960" y="4041648"/>
            <a:ext cx="438912" cy="438912"/>
          </a:xfrm>
          <a:prstGeom prst="ellipse">
            <a:avLst/>
          </a:prstGeom>
          <a:solidFill>
            <a:srgbClr val="43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" y="4133087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4078224"/>
            <a:ext cx="246888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Health timeline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059935"/>
            <a:ext cx="704088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Group records by date and filter by document type.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" y="4480560"/>
            <a:ext cx="22860" cy="438912"/>
          </a:xfrm>
          <a:prstGeom prst="rect">
            <a:avLst/>
          </a:prstGeom>
          <a:solidFill>
            <a:srgbClr val="DC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2960" y="4956048"/>
            <a:ext cx="438912" cy="438912"/>
          </a:xfrm>
          <a:prstGeom prst="ellipse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5047488"/>
            <a:ext cx="438912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4992624"/>
            <a:ext cx="246888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500" b="1">
                <a:solidFill>
                  <a:srgbClr val="0F1F38"/>
                </a:solidFill>
                <a:latin typeface="Aptos"/>
              </a:rPr>
              <a:t>Export doctor brief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4974336"/>
            <a:ext cx="704088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Create a dated summary of records and user questions.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989320"/>
            <a:ext cx="10607040" cy="2743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1">
                <a:solidFill>
                  <a:srgbClr val="C94A4A"/>
                </a:solidFill>
                <a:latin typeface="Aptos"/>
              </a:rPr>
              <a:t>Suggested demo: use synthetic sample records and show one successful upload-to-summary path in under 2 minutes.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800" b="0">
                <a:solidFill>
                  <a:srgbClr val="69788E"/>
                </a:solidFill>
                <a:latin typeface="Aptos"/>
              </a:rPr>
              <a:t>ALTRIX LABS HACKATHON  •  AI-POWERED PERSONAL HEALTH COPILOT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0528"/>
            <a:ext cx="411480" cy="203133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/>
            <a:r>
              <a:rPr sz="900" b="0" dirty="0">
                <a:solidFill>
                  <a:srgbClr val="69788E"/>
                </a:solidFill>
                <a:latin typeface="Aptos"/>
              </a:rPr>
              <a:t>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600" b="1">
                <a:solidFill>
                  <a:srgbClr val="0F1F38"/>
                </a:solidFill>
                <a:latin typeface="Aptos"/>
              </a:rPr>
              <a:t>Safety, Privacy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1581912"/>
            <a:ext cx="64008" cy="1545336"/>
          </a:xfrm>
          <a:prstGeom prst="round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600200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Privacy by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011680"/>
            <a:ext cx="2971800" cy="116128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7354B"/>
                </a:solidFill>
                <a:latin typeface="Aptos"/>
              </a:rPr>
              <a:t>Authenticate users, enforce per-user access, minimize data sent to AI, protect secrets, and support deletion.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26280" y="1581912"/>
            <a:ext cx="64008" cy="1545336"/>
          </a:xfrm>
          <a:prstGeom prst="roundRect">
            <a:avLst/>
          </a:prstGeom>
          <a:solidFill>
            <a:srgbClr val="43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18304" y="1600200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Traceability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8304" y="2011680"/>
            <a:ext cx="2971800" cy="116128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7354B"/>
                </a:solidFill>
                <a:latin typeface="Aptos"/>
              </a:rPr>
              <a:t>Keep source document references and extraction status. Label AI-generated content and allow corrections.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417320"/>
            <a:ext cx="34747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02168" y="1581912"/>
            <a:ext cx="64008" cy="1545336"/>
          </a:xfrm>
          <a:prstGeom prst="roundRect">
            <a:avLst/>
          </a:prstGeom>
          <a:solidFill>
            <a:srgbClr val="F29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94192" y="1600200"/>
            <a:ext cx="29718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Clinical 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011680"/>
            <a:ext cx="2971800" cy="116128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200" b="0">
                <a:solidFill>
                  <a:srgbClr val="27354B"/>
                </a:solidFill>
                <a:latin typeface="Aptos"/>
              </a:rPr>
              <a:t>No diagnosis, prescriptions, or medication changes. Encourage clinician review for medical concerns.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86200"/>
            <a:ext cx="27432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700" b="1">
                <a:solidFill>
                  <a:srgbClr val="0F1F38"/>
                </a:solidFill>
                <a:latin typeface="Aptos"/>
              </a:rPr>
              <a:t>Critical safeguards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43400"/>
            <a:ext cx="10424160" cy="1325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700" b="0">
                <a:solidFill>
                  <a:srgbClr val="27354B"/>
                </a:solidFill>
                <a:latin typeface="Aptos"/>
              </a:rPr>
              <a:t>• Use fictional data for the hackathon demo.
• Do not expose API keys or health documents in GitHub.
• Encrypt sensitive data in a production deployment.
• Show emergency guidance for urgent symptoms rather than trying to manage emergencies with the AI.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800" b="0">
                <a:solidFill>
                  <a:srgbClr val="69788E"/>
                </a:solidFill>
                <a:latin typeface="Aptos"/>
              </a:rPr>
              <a:t>ALTRIX LABS HACKATHON  •  AI-POWERED PERSONAL HEALTH COPILOT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600" b="1">
                <a:solidFill>
                  <a:srgbClr val="0F1F38"/>
                </a:solidFill>
                <a:latin typeface="Aptos"/>
              </a:rPr>
              <a:t>What Makes This Prototype Strong?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52120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41248" y="1536192"/>
            <a:ext cx="64008" cy="1545336"/>
          </a:xfrm>
          <a:prstGeom prst="round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33271" y="1554480"/>
            <a:ext cx="470916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Beyond a generic chatbot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1965960"/>
            <a:ext cx="4709160" cy="116128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Source-linked extraction, human correction, chronological record organization, and a doctor-ready brief form one end-to-end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52120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19088" y="1536192"/>
            <a:ext cx="64008" cy="1545336"/>
          </a:xfrm>
          <a:prstGeom prst="roundRect">
            <a:avLst/>
          </a:prstGeom>
          <a:solidFill>
            <a:srgbClr val="43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11112" y="1554480"/>
            <a:ext cx="470916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600" b="1">
                <a:solidFill>
                  <a:srgbClr val="0F1F38"/>
                </a:solidFill>
                <a:latin typeface="Aptos"/>
              </a:rPr>
              <a:t>Designed for the rubric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11112" y="1965960"/>
            <a:ext cx="4709160" cy="1161287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Prioritize extraction quality (35%), clear architecture (25%), usability (20%), safety/impact (10%), and a concise demo (10%).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94760"/>
            <a:ext cx="292608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700" b="1">
                <a:solidFill>
                  <a:srgbClr val="0F1F38"/>
                </a:solidFill>
                <a:latin typeface="Aptos"/>
              </a:rPr>
              <a:t>Measure the prototype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9768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4462272"/>
            <a:ext cx="310896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00AD9C"/>
                </a:solidFill>
                <a:latin typeface="Aptos"/>
              </a:rPr>
              <a:t>Extraction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306324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0">
                <a:solidFill>
                  <a:srgbClr val="27354B"/>
                </a:solidFill>
                <a:latin typeface="Aptos"/>
              </a:rPr>
              <a:t>Field-level checks against labeled sample records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59" y="429768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0288" y="4462272"/>
            <a:ext cx="310896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00AD9C"/>
                </a:solidFill>
                <a:latin typeface="Aptos"/>
              </a:rPr>
              <a:t>User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800600"/>
            <a:ext cx="306324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0">
                <a:solidFill>
                  <a:srgbClr val="27354B"/>
                </a:solidFill>
                <a:latin typeface="Aptos"/>
              </a:rPr>
              <a:t>Time to upload, review, and find a report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297680"/>
            <a:ext cx="33375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93607" y="4462272"/>
            <a:ext cx="3108960" cy="2286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300" b="1">
                <a:solidFill>
                  <a:srgbClr val="00AD9C"/>
                </a:solidFill>
                <a:latin typeface="Aptos"/>
              </a:rPr>
              <a:t>Summary safety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800600"/>
            <a:ext cx="3063240" cy="4114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100" b="0">
                <a:solidFill>
                  <a:srgbClr val="27354B"/>
                </a:solidFill>
                <a:latin typeface="Aptos"/>
              </a:rPr>
              <a:t>No unsupported claims; source values preserved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806440"/>
            <a:ext cx="10515600" cy="3200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200" b="1">
                <a:solidFill>
                  <a:srgbClr val="C94A4A"/>
                </a:solidFill>
                <a:latin typeface="Aptos"/>
              </a:rPr>
              <a:t>Do not claim medical accuracy until it has been evaluated on representative, appropriately consented data.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800" b="0">
                <a:solidFill>
                  <a:srgbClr val="69788E"/>
                </a:solidFill>
                <a:latin typeface="Aptos"/>
              </a:rPr>
              <a:t>ALTRIX LABS HACKATHON  •  AI-POWERED PERSONAL HEALTH COPILOT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698480" cy="5029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600" b="1">
                <a:solidFill>
                  <a:srgbClr val="0F1F38"/>
                </a:solidFill>
                <a:latin typeface="Aptos"/>
              </a:rP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822960" cy="50292"/>
          </a:xfrm>
          <a:prstGeom prst="rect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2057400"/>
            <a:ext cx="2194560" cy="25603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0AD9C"/>
                </a:solidFill>
                <a:latin typeface="Aptos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560320"/>
            <a:ext cx="219456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800" b="1">
                <a:solidFill>
                  <a:srgbClr val="0F1F38"/>
                </a:solidFill>
                <a:latin typeface="Aptos"/>
              </a:rPr>
              <a:t>Working MVP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246120"/>
            <a:ext cx="2148840" cy="9144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Upload PDFs/images; extract text; manually verify fields; save records.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82880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30752" y="2057400"/>
            <a:ext cx="2194560" cy="25603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100" b="1">
                <a:solidFill>
                  <a:srgbClr val="4377E8"/>
                </a:solidFill>
                <a:latin typeface="Aptos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560320"/>
            <a:ext cx="219456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800" b="1">
                <a:solidFill>
                  <a:srgbClr val="0F1F38"/>
                </a:solidFill>
                <a:latin typeface="Aptos"/>
              </a:rPr>
              <a:t>AI +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30752" y="3246120"/>
            <a:ext cx="2148840" cy="9144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Grounded summary; dated health profile; basic filters and comparison.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182880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11112" y="2057400"/>
            <a:ext cx="2194560" cy="25603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100" b="1">
                <a:solidFill>
                  <a:srgbClr val="00AD9C"/>
                </a:solidFill>
                <a:latin typeface="Aptos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2560320"/>
            <a:ext cx="219456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800" b="1">
                <a:solidFill>
                  <a:srgbClr val="0F1F38"/>
                </a:solidFill>
                <a:latin typeface="Aptos"/>
              </a:rPr>
              <a:t>Bonus features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11112" y="3246120"/>
            <a:ext cx="2148840" cy="9144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Tamil summary; OCR for scans; FHIR-style mapping; mock ABHA link.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1828800"/>
            <a:ext cx="25146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C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91472" y="2057400"/>
            <a:ext cx="2194560" cy="25603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100" b="1">
                <a:solidFill>
                  <a:srgbClr val="4377E8"/>
                </a:solidFill>
                <a:latin typeface="Aptos"/>
              </a:rP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2560320"/>
            <a:ext cx="2194560" cy="4572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800" b="1">
                <a:solidFill>
                  <a:srgbClr val="0F1F38"/>
                </a:solidFill>
                <a:latin typeface="Aptos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3246120"/>
            <a:ext cx="2148840" cy="9144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1300" b="0">
                <a:solidFill>
                  <a:srgbClr val="27354B"/>
                </a:solidFill>
                <a:latin typeface="Aptos"/>
              </a:rPr>
              <a:t>Test with synthetic documents; measure field errors; improve UX and safety.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10607040" cy="59436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ctr"/>
            <a:r>
              <a:rPr sz="1700" b="1">
                <a:solidFill>
                  <a:srgbClr val="0F1F38"/>
                </a:solidFill>
                <a:latin typeface="Aptos"/>
              </a:rPr>
              <a:t>MVP priority: complete and reliable upload → extraction → user verification → summary → timeline before adding extra features.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37960"/>
            <a:ext cx="10058400" cy="164592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800" b="0">
                <a:solidFill>
                  <a:srgbClr val="69788E"/>
                </a:solidFill>
                <a:latin typeface="Aptos"/>
              </a:rPr>
              <a:t>ALTRIX LABS HACKATHON  •  AI-POWERED PERSONAL HEALTH COPILOT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051560"/>
            <a:ext cx="7315200" cy="73152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"/>
              </a:rPr>
              <a:t>HealthMate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1965960"/>
            <a:ext cx="8229600" cy="59436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300" b="1">
                <a:solidFill>
                  <a:srgbClr val="00AD9C"/>
                </a:solidFill>
                <a:latin typeface="Aptos"/>
              </a:rPr>
              <a:t>Make health information easier to understand and manage.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80360"/>
            <a:ext cx="7955279" cy="68580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Aptos"/>
              </a:rPr>
              <a:t>One secure workspace. Source-linked insights. A clearer health journey.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54880"/>
            <a:ext cx="2743200" cy="54864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7" name="Oval 6"/>
          <p:cNvSpPr/>
          <p:nvPr/>
        </p:nvSpPr>
        <p:spPr>
          <a:xfrm>
            <a:off x="8778240" y="1280160"/>
            <a:ext cx="1828800" cy="1828800"/>
          </a:xfrm>
          <a:prstGeom prst="ellipse">
            <a:avLst/>
          </a:prstGeom>
          <a:solidFill>
            <a:srgbClr val="00A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875520" y="2971800"/>
            <a:ext cx="1097280" cy="1097280"/>
          </a:xfrm>
          <a:prstGeom prst="ellipse">
            <a:avLst/>
          </a:prstGeom>
          <a:solidFill>
            <a:srgbClr val="437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458200" y="4343400"/>
            <a:ext cx="502920" cy="502920"/>
          </a:xfrm>
          <a:prstGeom prst="ellipse">
            <a:avLst/>
          </a:prstGeom>
          <a:solidFill>
            <a:srgbClr val="F29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54864" tIns="36576" rIns="54864" bIns="27432" anchor="t">
            <a:spAutoFit/>
          </a:bodyPr>
          <a:lstStyle/>
          <a:p>
            <a:pPr algn="r"/>
            <a:r>
              <a:rPr sz="900" b="0">
                <a:solidFill>
                  <a:srgbClr val="C2D0E5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1385</Words>
  <Application>Microsoft Office PowerPoint</Application>
  <PresentationFormat>Widescreen</PresentationFormat>
  <Paragraphs>173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HealthMate AI — AI-Powered Personal Health Copilot</dc:title>
  <dc:subject>Altrix Labs hackathon proposal: problem statement, solution, architecture, and demo plan</dc:subject>
  <dc:creator>HealthMate AI Project Team</dc:creator>
  <cp:keywords>Altrix Labs, AI health copilot, OCR, FHIR, hackathon</cp:keywords>
  <dc:description>generated using python-pptx</dc:description>
  <cp:lastModifiedBy>monishanagaraj788@outlook.com</cp:lastModifiedBy>
  <cp:revision>2</cp:revision>
  <dcterms:created xsi:type="dcterms:W3CDTF">2013-01-27T09:14:16Z</dcterms:created>
  <dcterms:modified xsi:type="dcterms:W3CDTF">2026-10-13T05:13:39Z</dcterms:modified>
  <cp:category/>
</cp:coreProperties>
</file>